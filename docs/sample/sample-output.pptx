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80160" y="914400"/>
            <a:ext cx="10515600" cy="566928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73152"/>
            <a:ext cx="11978640" cy="566928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2400" b="1">
                <a:solidFill>
                  <a:srgbClr val="1B3A6B"/>
                </a:solidFill>
                <a:latin typeface="Calibri"/>
              </a:rPr>
              <a:t>Sample Account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621792"/>
            <a:ext cx="11978640" cy="27432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01/01/2026-01/01/2027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6580022"/>
            <a:ext cx="10515600" cy="7315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5446166"/>
            <a:ext cx="10515600" cy="7315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5266944"/>
            <a:ext cx="1234439" cy="36576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222222"/>
                </a:solidFill>
                <a:latin typeface="Calibri"/>
              </a:rPr>
              <a:t>$10,000,000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3745382"/>
            <a:ext cx="10515600" cy="7315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3566159"/>
            <a:ext cx="1234439" cy="36576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222222"/>
                </a:solidFill>
                <a:latin typeface="Calibri"/>
              </a:rPr>
              <a:t>$25,000,000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910742"/>
            <a:ext cx="10515600" cy="7315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731520"/>
            <a:ext cx="1234439" cy="36576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222222"/>
                </a:solidFill>
                <a:latin typeface="Calibri"/>
              </a:rPr>
              <a:t>$50,000,000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7475" y="5449824"/>
            <a:ext cx="6294729" cy="1133856"/>
          </a:xfrm>
          <a:prstGeom prst="rect">
            <a:avLst/>
          </a:prstGeom>
          <a:solidFill>
            <a:srgbClr val="1B3A6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7475" y="5449824"/>
            <a:ext cx="6294729" cy="1133856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Carrier Alpha</a:t>
            </a:r>
          </a:p>
          <a:p>
            <a:pPr algn="ctr"/>
            <a:r>
              <a:rPr sz="800" b="0">
                <a:solidFill>
                  <a:srgbClr val="E0E0E0"/>
                </a:solidFill>
                <a:latin typeface="Calibri"/>
              </a:rPr>
              <a:t>60.00% ($6,000,000)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96835" y="5449824"/>
            <a:ext cx="4191609" cy="1133856"/>
          </a:xfrm>
          <a:prstGeom prst="rect">
            <a:avLst/>
          </a:prstGeom>
          <a:solidFill>
            <a:srgbClr val="B03A2E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96835" y="5449824"/>
            <a:ext cx="4191609" cy="1133856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Carrier Beta</a:t>
            </a:r>
          </a:p>
          <a:p>
            <a:pPr algn="ctr"/>
            <a:r>
              <a:rPr sz="800" b="0">
                <a:solidFill>
                  <a:srgbClr val="E0E0E0"/>
                </a:solidFill>
                <a:latin typeface="Calibri"/>
              </a:rPr>
              <a:t>40.00% ($4,000,000)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7475" y="3749039"/>
            <a:ext cx="5243169" cy="1700784"/>
          </a:xfrm>
          <a:prstGeom prst="rect">
            <a:avLst/>
          </a:prstGeom>
          <a:solidFill>
            <a:srgbClr val="1B3A6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7475" y="3749039"/>
            <a:ext cx="5243169" cy="1700784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Carrier Alpha</a:t>
            </a:r>
          </a:p>
          <a:p>
            <a:pPr algn="ctr"/>
            <a:r>
              <a:rPr sz="800" b="0">
                <a:solidFill>
                  <a:srgbClr val="E0E0E0"/>
                </a:solidFill>
                <a:latin typeface="Calibri"/>
              </a:rPr>
              <a:t>50.00% ($7,500,000)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45275" y="3749039"/>
            <a:ext cx="5243169" cy="1700784"/>
          </a:xfrm>
          <a:prstGeom prst="rect">
            <a:avLst/>
          </a:prstGeom>
          <a:solidFill>
            <a:srgbClr val="2E86C1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5275" y="3749039"/>
            <a:ext cx="5243169" cy="1700784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Carrier Gamma</a:t>
            </a:r>
          </a:p>
          <a:p>
            <a:pPr algn="ctr"/>
            <a:r>
              <a:rPr sz="800" b="0">
                <a:solidFill>
                  <a:srgbClr val="E0E0E0"/>
                </a:solidFill>
                <a:latin typeface="Calibri"/>
              </a:rPr>
              <a:t>50.00% ($7,500,000)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7475" y="914400"/>
            <a:ext cx="4191609" cy="2834639"/>
          </a:xfrm>
          <a:prstGeom prst="rect">
            <a:avLst/>
          </a:prstGeom>
          <a:solidFill>
            <a:srgbClr val="B03A2E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7475" y="914400"/>
            <a:ext cx="4191609" cy="2834639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Carrier Beta</a:t>
            </a:r>
          </a:p>
          <a:p>
            <a:pPr algn="ctr"/>
            <a:r>
              <a:rPr sz="800" b="0">
                <a:solidFill>
                  <a:srgbClr val="E0E0E0"/>
                </a:solidFill>
                <a:latin typeface="Calibri"/>
              </a:rPr>
              <a:t>40.00% ($10,000,000)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93715" y="914400"/>
            <a:ext cx="6294729" cy="2834639"/>
          </a:xfrm>
          <a:prstGeom prst="rect">
            <a:avLst/>
          </a:prstGeom>
          <a:solidFill>
            <a:srgbClr val="2E86C1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93715" y="914400"/>
            <a:ext cx="6294729" cy="2834639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Carrier Gamma</a:t>
            </a:r>
          </a:p>
          <a:p>
            <a:pPr algn="ctr"/>
            <a:r>
              <a:rPr sz="800" b="0">
                <a:solidFill>
                  <a:srgbClr val="E0E0E0"/>
                </a:solidFill>
                <a:latin typeface="Calibri"/>
              </a:rPr>
              <a:t>60.00% ($15,000,000)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